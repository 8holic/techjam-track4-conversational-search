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26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ver-accent">
            <a:extLst>
              <a:ext uri="{FF2B5EF4-FFF2-40B4-BE49-F238E27FC236}">
                <a16:creationId xmlns:a16="http://schemas.microsoft.com/office/drawing/2014/main" id="{BC03574A-CAE7-8EE7-E6AF-AEF88C735D9A}"/>
              </a:ext>
            </a:extLst>
          </p:cNvPr>
          <p:cNvSpPr>
            <a:spLocks noGrp="1"/>
          </p:cNvSpPr>
          <p:nvPr userDrawn="1"/>
        </p:nvSpPr>
        <p:spPr>
          <a:xfrm>
            <a:off x="895350" y="4552950"/>
            <a:ext cx="1333500" cy="66675"/>
          </a:xfrm>
          <a:prstGeom prst="rect">
            <a:avLst/>
          </a:prstGeom>
          <a:solidFill>
            <a:srgbClr val="FFB81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C6CE235-C7E4-114D-8D06-47F5DE1EEF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5350" y="1554957"/>
            <a:ext cx="8389938" cy="1928812"/>
          </a:xfrm>
          <a:prstGeom prst="rect">
            <a:avLst/>
          </a:prstGeom>
        </p:spPr>
        <p:txBody>
          <a:bodyPr/>
          <a:lstStyle>
            <a:lvl1pPr marL="228600" marR="0" indent="-228600" algn="l" defTabSz="91440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8000" b="0" dirty="0">
                <a:solidFill>
                  <a:srgbClr val="375C86"/>
                </a:solidFill>
                <a:latin typeface="Arial"/>
                <a:ea typeface="Arial"/>
                <a:cs typeface="Arial"/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A52BC70A-D49E-CFC9-AA1B-868BE43F1D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5350" y="3667492"/>
            <a:ext cx="8389937" cy="525462"/>
          </a:xfrm>
          <a:prstGeom prst="rect">
            <a:avLst/>
          </a:prstGeom>
        </p:spPr>
        <p:txBody>
          <a:bodyPr/>
          <a:lstStyle>
            <a:lvl1pPr marL="228600" marR="0" indent="-228600" algn="l" defTabSz="91440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228600" marR="0" lvl="0" indent="-228600" algn="l" defTabSz="91440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rgbClr val="375C86"/>
                </a:solidFill>
                <a:latin typeface="Arial"/>
                <a:ea typeface="Arial"/>
                <a:cs typeface="Arial"/>
              </a:rPr>
              <a:t>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ttom-rule-blue">
            <a:extLst>
              <a:ext uri="{FF2B5EF4-FFF2-40B4-BE49-F238E27FC236}">
                <a16:creationId xmlns:a16="http://schemas.microsoft.com/office/drawing/2014/main" id="{2A1BC756-C40B-E266-5DAB-2C25DCB0D009}"/>
              </a:ext>
            </a:extLst>
          </p:cNvPr>
          <p:cNvSpPr>
            <a:spLocks noGrp="1"/>
          </p:cNvSpPr>
          <p:nvPr userDrawn="1"/>
        </p:nvSpPr>
        <p:spPr>
          <a:xfrm>
            <a:off x="0" y="6781800"/>
            <a:ext cx="10001250" cy="76200"/>
          </a:xfrm>
          <a:prstGeom prst="rect">
            <a:avLst/>
          </a:prstGeom>
          <a:solidFill>
            <a:srgbClr val="1677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bottom-rule-violet">
            <a:extLst>
              <a:ext uri="{FF2B5EF4-FFF2-40B4-BE49-F238E27FC236}">
                <a16:creationId xmlns:a16="http://schemas.microsoft.com/office/drawing/2014/main" id="{462ECB51-E235-5793-33EA-AED96E1C091C}"/>
              </a:ext>
            </a:extLst>
          </p:cNvPr>
          <p:cNvSpPr>
            <a:spLocks noGrp="1"/>
          </p:cNvSpPr>
          <p:nvPr userDrawn="1"/>
        </p:nvSpPr>
        <p:spPr>
          <a:xfrm>
            <a:off x="10001250" y="6781800"/>
            <a:ext cx="2190750" cy="76200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ection-stripe">
            <a:extLst>
              <a:ext uri="{FF2B5EF4-FFF2-40B4-BE49-F238E27FC236}">
                <a16:creationId xmlns:a16="http://schemas.microsoft.com/office/drawing/2014/main" id="{68397673-4C16-9390-785A-CBD80D1F77D6}"/>
              </a:ext>
            </a:extLst>
          </p:cNvPr>
          <p:cNvSpPr>
            <a:spLocks noGrp="1"/>
          </p:cNvSpPr>
          <p:nvPr userDrawn="1"/>
        </p:nvSpPr>
        <p:spPr>
          <a:xfrm rot="5400000">
            <a:off x="6014060" y="-986692"/>
            <a:ext cx="163879" cy="8667505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Placeholder 20">
            <a:extLst>
              <a:ext uri="{FF2B5EF4-FFF2-40B4-BE49-F238E27FC236}">
                <a16:creationId xmlns:a16="http://schemas.microsoft.com/office/drawing/2014/main" id="{9F3BCA00-F900-7BD8-0CF2-600D4CA0DED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613" y="2403232"/>
            <a:ext cx="6380773" cy="775981"/>
          </a:xfrm>
          <a:prstGeom prst="rect">
            <a:avLst/>
          </a:prstGeom>
        </p:spPr>
        <p:txBody>
          <a:bodyPr/>
          <a:lstStyle>
            <a:lvl1pPr marL="228600" marR="0" indent="-228600" algn="l" defTabSz="91440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5400" b="0" dirty="0">
                <a:solidFill>
                  <a:srgbClr val="375C86"/>
                </a:solidFill>
                <a:latin typeface="Arial"/>
                <a:ea typeface="Arial"/>
                <a:cs typeface="Arial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099737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ottom-rule-blue">
            <a:extLst>
              <a:ext uri="{FF2B5EF4-FFF2-40B4-BE49-F238E27FC236}">
                <a16:creationId xmlns:a16="http://schemas.microsoft.com/office/drawing/2014/main" id="{746173F8-0228-D878-72F1-8648A5F74DA6}"/>
              </a:ext>
            </a:extLst>
          </p:cNvPr>
          <p:cNvSpPr>
            <a:spLocks noGrp="1"/>
          </p:cNvSpPr>
          <p:nvPr userDrawn="1"/>
        </p:nvSpPr>
        <p:spPr>
          <a:xfrm>
            <a:off x="0" y="6781800"/>
            <a:ext cx="10001250" cy="76200"/>
          </a:xfrm>
          <a:prstGeom prst="rect">
            <a:avLst/>
          </a:prstGeom>
          <a:solidFill>
            <a:srgbClr val="1677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bottom-rule-violet">
            <a:extLst>
              <a:ext uri="{FF2B5EF4-FFF2-40B4-BE49-F238E27FC236}">
                <a16:creationId xmlns:a16="http://schemas.microsoft.com/office/drawing/2014/main" id="{64102509-EB5E-6FF9-20F9-F85A8C1C3F19}"/>
              </a:ext>
            </a:extLst>
          </p:cNvPr>
          <p:cNvSpPr>
            <a:spLocks noGrp="1"/>
          </p:cNvSpPr>
          <p:nvPr userDrawn="1"/>
        </p:nvSpPr>
        <p:spPr>
          <a:xfrm>
            <a:off x="10001250" y="6781800"/>
            <a:ext cx="2190750" cy="76200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itle-accent">
            <a:extLst>
              <a:ext uri="{FF2B5EF4-FFF2-40B4-BE49-F238E27FC236}">
                <a16:creationId xmlns:a16="http://schemas.microsoft.com/office/drawing/2014/main" id="{E26F6165-C508-227F-FC70-BA900A3462FF}"/>
              </a:ext>
            </a:extLst>
          </p:cNvPr>
          <p:cNvSpPr>
            <a:spLocks noGrp="1"/>
          </p:cNvSpPr>
          <p:nvPr userDrawn="1"/>
        </p:nvSpPr>
        <p:spPr>
          <a:xfrm>
            <a:off x="857250" y="1276350"/>
            <a:ext cx="685800" cy="47625"/>
          </a:xfrm>
          <a:prstGeom prst="rect">
            <a:avLst/>
          </a:prstGeom>
          <a:solidFill>
            <a:srgbClr val="FFB81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59B113-3E96-7430-09B2-CD7E4FFF3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7250" y="633413"/>
            <a:ext cx="6192838" cy="554037"/>
          </a:xfrm>
          <a:prstGeom prst="rect">
            <a:avLst/>
          </a:prstGeom>
        </p:spPr>
        <p:txBody>
          <a:bodyPr/>
          <a:lstStyle>
            <a:lvl1pPr>
              <a:buNone/>
              <a:defRPr lang="en-US" sz="4000" b="0" dirty="0">
                <a:solidFill>
                  <a:srgbClr val="375C86"/>
                </a:solidFill>
                <a:latin typeface="Arial"/>
                <a:ea typeface="Arial"/>
                <a:cs typeface="Arial"/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A514D9F-86DA-BB43-D08B-5AB866796D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7249" y="1412875"/>
            <a:ext cx="10001249" cy="4249371"/>
          </a:xfrm>
          <a:prstGeom prst="rect">
            <a:avLst/>
          </a:prstGeom>
        </p:spPr>
        <p:txBody>
          <a:bodyPr/>
          <a:lstStyle>
            <a:lvl1pPr>
              <a:buNone/>
              <a:defRPr lang="en-US" sz="2800" b="0" dirty="0">
                <a:solidFill>
                  <a:srgbClr val="375C86"/>
                </a:solidFill>
                <a:latin typeface="Arial"/>
                <a:ea typeface="Arial"/>
                <a:cs typeface="Arial"/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</p:spTree>
    <p:extLst>
      <p:ext uri="{BB962C8B-B14F-4D97-AF65-F5344CB8AC3E}">
        <p14:creationId xmlns:p14="http://schemas.microsoft.com/office/powerpoint/2010/main" val="4191556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ottom-rule-blue">
            <a:extLst>
              <a:ext uri="{FF2B5EF4-FFF2-40B4-BE49-F238E27FC236}">
                <a16:creationId xmlns:a16="http://schemas.microsoft.com/office/drawing/2014/main" id="{746173F8-0228-D878-72F1-8648A5F74DA6}"/>
              </a:ext>
            </a:extLst>
          </p:cNvPr>
          <p:cNvSpPr>
            <a:spLocks noGrp="1"/>
          </p:cNvSpPr>
          <p:nvPr userDrawn="1"/>
        </p:nvSpPr>
        <p:spPr>
          <a:xfrm>
            <a:off x="0" y="6781800"/>
            <a:ext cx="10001250" cy="76200"/>
          </a:xfrm>
          <a:prstGeom prst="rect">
            <a:avLst/>
          </a:prstGeom>
          <a:solidFill>
            <a:srgbClr val="1677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bottom-rule-violet">
            <a:extLst>
              <a:ext uri="{FF2B5EF4-FFF2-40B4-BE49-F238E27FC236}">
                <a16:creationId xmlns:a16="http://schemas.microsoft.com/office/drawing/2014/main" id="{64102509-EB5E-6FF9-20F9-F85A8C1C3F19}"/>
              </a:ext>
            </a:extLst>
          </p:cNvPr>
          <p:cNvSpPr>
            <a:spLocks noGrp="1"/>
          </p:cNvSpPr>
          <p:nvPr userDrawn="1"/>
        </p:nvSpPr>
        <p:spPr>
          <a:xfrm>
            <a:off x="10001250" y="6781800"/>
            <a:ext cx="2190750" cy="76200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32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57E62B0-5397-F5C0-56A0-3633B4AC08E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bottom-rule-blue">
            <a:extLst>
              <a:ext uri="{FF2B5EF4-FFF2-40B4-BE49-F238E27FC236}">
                <a16:creationId xmlns:a16="http://schemas.microsoft.com/office/drawing/2014/main" id="{E22AD616-C351-F48C-117D-CC6A6D4BF152}"/>
              </a:ext>
            </a:extLst>
          </p:cNvPr>
          <p:cNvSpPr>
            <a:spLocks noGrp="1"/>
          </p:cNvSpPr>
          <p:nvPr userDrawn="1"/>
        </p:nvSpPr>
        <p:spPr>
          <a:xfrm>
            <a:off x="0" y="6781800"/>
            <a:ext cx="10001250" cy="76200"/>
          </a:xfrm>
          <a:prstGeom prst="rect">
            <a:avLst/>
          </a:prstGeom>
          <a:solidFill>
            <a:srgbClr val="1677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bottom-rule-violet">
            <a:extLst>
              <a:ext uri="{FF2B5EF4-FFF2-40B4-BE49-F238E27FC236}">
                <a16:creationId xmlns:a16="http://schemas.microsoft.com/office/drawing/2014/main" id="{8D968EE1-7325-5448-26F6-6FC1EEBC5776}"/>
              </a:ext>
            </a:extLst>
          </p:cNvPr>
          <p:cNvSpPr>
            <a:spLocks noGrp="1"/>
          </p:cNvSpPr>
          <p:nvPr userDrawn="1"/>
        </p:nvSpPr>
        <p:spPr>
          <a:xfrm>
            <a:off x="10001250" y="6781800"/>
            <a:ext cx="2190750" cy="76200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bottom-rule-blue">
            <a:extLst>
              <a:ext uri="{FF2B5EF4-FFF2-40B4-BE49-F238E27FC236}">
                <a16:creationId xmlns:a16="http://schemas.microsoft.com/office/drawing/2014/main" id="{57476CC7-9A9E-4D58-8DC1-6B16CADDDD28}"/>
              </a:ext>
            </a:extLst>
          </p:cNvPr>
          <p:cNvSpPr>
            <a:spLocks noGrp="1"/>
          </p:cNvSpPr>
          <p:nvPr/>
        </p:nvSpPr>
        <p:spPr>
          <a:xfrm>
            <a:off x="0" y="6781800"/>
            <a:ext cx="10001250" cy="76200"/>
          </a:xfrm>
          <a:prstGeom prst="rect">
            <a:avLst/>
          </a:prstGeom>
          <a:solidFill>
            <a:srgbClr val="1677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bottom-rule-violet">
            <a:extLst>
              <a:ext uri="{FF2B5EF4-FFF2-40B4-BE49-F238E27FC236}">
                <a16:creationId xmlns:a16="http://schemas.microsoft.com/office/drawing/2014/main" id="{80D63C10-AFB7-4D83-9472-E39F647F84C2}"/>
              </a:ext>
            </a:extLst>
          </p:cNvPr>
          <p:cNvSpPr>
            <a:spLocks noGrp="1"/>
          </p:cNvSpPr>
          <p:nvPr/>
        </p:nvSpPr>
        <p:spPr>
          <a:xfrm>
            <a:off x="10001250" y="6781800"/>
            <a:ext cx="2190750" cy="76200"/>
          </a:xfrm>
          <a:prstGeom prst="rect">
            <a:avLst/>
          </a:prstGeom>
          <a:solidFill>
            <a:srgbClr val="7447E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4D8B15-6777-47D2-A219-3793E86D5553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78105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5250" tIns="57150" rIns="95250" bIns="57150" anchor="t"/>
          <a:lstStyle/>
          <a:p>
            <a:pPr algn="l">
              <a:defRPr sz="3900" b="1">
                <a:solidFill>
                  <a:srgbClr val="08285C"/>
                </a:solidFill>
                <a:latin typeface="Bahnschrift"/>
                <a:ea typeface="Bahnschrift"/>
                <a:cs typeface="Bahnschrift"/>
              </a:defRPr>
            </a:pPr>
            <a:r>
              <a:rPr lang="en-US" sz="3900" b="1" dirty="0" err="1">
                <a:solidFill>
                  <a:srgbClr val="08285C"/>
                </a:solidFill>
                <a:latin typeface="Bahnschrift"/>
                <a:ea typeface="Bahnschrift"/>
                <a:cs typeface="Bahnschrift"/>
              </a:rPr>
              <a:t>TechJam</a:t>
            </a:r>
            <a:r>
              <a:rPr lang="en-US" sz="3900" b="1" dirty="0">
                <a:solidFill>
                  <a:srgbClr val="08285C"/>
                </a:solidFill>
                <a:latin typeface="Bahnschrift"/>
                <a:ea typeface="Bahnschrift"/>
                <a:cs typeface="Bahnschrift"/>
              </a:rPr>
              <a:t> Track 4</a:t>
            </a:r>
            <a:endParaRPr sz="3900" b="1" dirty="0">
              <a:solidFill>
                <a:srgbClr val="08285C"/>
              </a:solidFill>
              <a:latin typeface="Bahnschrift"/>
              <a:ea typeface="Bahnschrift"/>
              <a:cs typeface="Bahnschrif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6CC8B7-986E-4C41-8D84-2B45B56E186C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685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5250" tIns="57150" rIns="95250" bIns="57150" anchor="t"/>
          <a:lstStyle/>
          <a:p>
            <a:pPr algn="l">
              <a:defRPr sz="1725" b="0">
                <a:solidFill>
                  <a:srgbClr val="375C86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375C86"/>
                </a:solidFill>
                <a:latin typeface="Arial"/>
                <a:ea typeface="Arial"/>
                <a:cs typeface="Arial"/>
              </a:rPr>
              <a:t>Bryan Ang</a:t>
            </a:r>
            <a:endParaRPr sz="1725" b="0" dirty="0">
              <a:solidFill>
                <a:srgbClr val="375C8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cover-accent">
            <a:extLst>
              <a:ext uri="{FF2B5EF4-FFF2-40B4-BE49-F238E27FC236}">
                <a16:creationId xmlns:a16="http://schemas.microsoft.com/office/drawing/2014/main" id="{14DF588E-438A-4069-AC13-0AF67B9F5FA2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1333500" cy="66675"/>
          </a:xfrm>
          <a:prstGeom prst="rect">
            <a:avLst/>
          </a:prstGeom>
          <a:solidFill>
            <a:srgbClr val="FFB81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50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1E9609-AAB5-554D-D1F3-E7A05EA5B6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57250" y="633413"/>
            <a:ext cx="9139604" cy="554037"/>
          </a:xfrm>
        </p:spPr>
        <p:txBody>
          <a:bodyPr/>
          <a:lstStyle/>
          <a:p>
            <a:r>
              <a:rPr lang="en-US" dirty="0"/>
              <a:t>Day 0-Analysis of original BM25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5A330-76FC-DD26-DE83-F330F46960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Original Agent</a:t>
            </a:r>
          </a:p>
          <a:p>
            <a:r>
              <a:rPr lang="en-US" dirty="0"/>
              <a:t>Uses OR for keyword matching</a:t>
            </a:r>
          </a:p>
          <a:p>
            <a:r>
              <a:rPr lang="en-US" dirty="0"/>
              <a:t>Does not have memory</a:t>
            </a:r>
          </a:p>
          <a:p>
            <a:r>
              <a:rPr lang="en-US" dirty="0"/>
              <a:t>Does not request for information from the user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089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186C7-FFE0-8A56-2459-6A927C16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CCDB2-09AB-C17F-7D61-B500C57F98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57250" y="633413"/>
            <a:ext cx="9139604" cy="554037"/>
          </a:xfrm>
        </p:spPr>
        <p:txBody>
          <a:bodyPr/>
          <a:lstStyle/>
          <a:p>
            <a:r>
              <a:rPr lang="en-US" dirty="0"/>
              <a:t>Day 1-Planning for the </a:t>
            </a:r>
            <a:r>
              <a:rPr lang="en-US" dirty="0" err="1"/>
              <a:t>Hackaton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BCB580-71E6-140B-2EEA-11C751D9A7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dirty="0"/>
              <a:t>Improve upon the original agent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dirty="0"/>
              <a:t>Use AND instead of OR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dirty="0"/>
              <a:t>Ask  questions to the user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dirty="0"/>
              <a:t>Confirm the approach works</a:t>
            </a:r>
          </a:p>
        </p:txBody>
      </p:sp>
    </p:spTree>
    <p:extLst>
      <p:ext uri="{BB962C8B-B14F-4D97-AF65-F5344CB8AC3E}">
        <p14:creationId xmlns:p14="http://schemas.microsoft.com/office/powerpoint/2010/main" val="75685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6AEB3-B427-6F0B-2108-95664AFB5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FD1DFC-E093-F247-6ED2-C285E71C20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57250" y="633413"/>
            <a:ext cx="9139604" cy="554037"/>
          </a:xfrm>
        </p:spPr>
        <p:txBody>
          <a:bodyPr/>
          <a:lstStyle/>
          <a:p>
            <a:r>
              <a:rPr lang="en-US" dirty="0"/>
              <a:t>Day 1 V1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CA179-36BA-E5E8-C1CE-470D66CF58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dirty="0"/>
              <a:t>Version 1 of agent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dirty="0"/>
              <a:t>Ask question based on a hardcoded order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dirty="0"/>
              <a:t>If the customer have no preference for bucket X&lt; it is skipped forever.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30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3B93-D4F6-EBC5-C0E1-98A5F526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080659-6BFC-B019-0802-E733C11577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57250" y="633413"/>
            <a:ext cx="9139604" cy="554037"/>
          </a:xfrm>
        </p:spPr>
        <p:txBody>
          <a:bodyPr/>
          <a:lstStyle/>
          <a:p>
            <a:r>
              <a:rPr lang="en-US" dirty="0"/>
              <a:t>Day 1 V1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0D069-6B84-A347-4001-4B83EAD81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571500" indent="-571500">
              <a:buAutoNum type="romanUcPeriod"/>
            </a:pPr>
            <a:r>
              <a:rPr lang="en-US" b="1" dirty="0"/>
              <a:t>Core Architecture: Intent Routing &amp; Hybrid Pipeline</a:t>
            </a:r>
          </a:p>
          <a:p>
            <a:pPr marL="571500" indent="-571500">
              <a:buFontTx/>
              <a:buAutoNum type="romanUcPeriod"/>
            </a:pPr>
            <a:r>
              <a:rPr lang="en-US" b="1" dirty="0"/>
              <a:t>Dialog Strategy: Multi-Turn Scenario Evolution</a:t>
            </a:r>
          </a:p>
          <a:p>
            <a:pPr marL="571500" indent="-571500">
              <a:buFontTx/>
              <a:buAutoNum type="romanUcPeriod"/>
            </a:pPr>
            <a:r>
              <a:rPr lang="en-US" dirty="0"/>
              <a:t>Self-Evolution: Dynamic Context Programming</a:t>
            </a:r>
          </a:p>
          <a:p>
            <a:pPr marL="571500" indent="-571500">
              <a:buFontTx/>
              <a:buAutoNum type="romanUcPeriod"/>
            </a:pPr>
            <a:r>
              <a:rPr lang="en-US" dirty="0"/>
              <a:t>Evaluation Matrix: Product &amp; Efficiency Metrics</a:t>
            </a:r>
          </a:p>
          <a:p>
            <a:pPr marL="571500" indent="-571500">
              <a:buAutoNum type="romanUcPeriod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4065259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lean Futuristic Workshop">
      <a:dk1>
        <a:srgbClr val="000000"/>
      </a:dk1>
      <a:lt1>
        <a:srgbClr val="FFFFFF"/>
      </a:lt1>
      <a:dk2>
        <a:srgbClr val="08285C"/>
      </a:dk2>
      <a:lt2>
        <a:srgbClr val="E7F0FF"/>
      </a:lt2>
      <a:accent1>
        <a:srgbClr val="1677F2"/>
      </a:accent1>
      <a:accent2>
        <a:srgbClr val="7447ED"/>
      </a:accent2>
      <a:accent3>
        <a:srgbClr val="35CBE8"/>
      </a:accent3>
      <a:accent4>
        <a:srgbClr val="B43DE4"/>
      </a:accent4>
      <a:accent5>
        <a:srgbClr val="FFB818"/>
      </a:accent5>
      <a:accent6>
        <a:srgbClr val="375C86"/>
      </a:accent6>
      <a:hlink>
        <a:srgbClr val="1677F2"/>
      </a:hlink>
      <a:folHlink>
        <a:srgbClr val="7447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lean Futuristic Workshop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lean Futuristic Workshop">
      <a:dk1>
        <a:srgbClr val="000000"/>
      </a:dk1>
      <a:lt1>
        <a:srgbClr val="FFFFFF"/>
      </a:lt1>
      <a:dk2>
        <a:srgbClr val="08285C"/>
      </a:dk2>
      <a:lt2>
        <a:srgbClr val="E7F0FF"/>
      </a:lt2>
      <a:accent1>
        <a:srgbClr val="1677F2"/>
      </a:accent1>
      <a:accent2>
        <a:srgbClr val="7447ED"/>
      </a:accent2>
      <a:accent3>
        <a:srgbClr val="35CBE8"/>
      </a:accent3>
      <a:accent4>
        <a:srgbClr val="B43DE4"/>
      </a:accent4>
      <a:accent5>
        <a:srgbClr val="FFB818"/>
      </a:accent5>
      <a:accent6>
        <a:srgbClr val="375C86"/>
      </a:accent6>
      <a:hlink>
        <a:srgbClr val="1677F2"/>
      </a:hlink>
      <a:folHlink>
        <a:srgbClr val="7447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lean Futuristic Workshop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111</Words>
  <Application>Microsoft Office PowerPoint</Application>
  <DocSecurity>0</DocSecurity>
  <PresentationFormat>Widescreen</PresentationFormat>
  <Paragraphs>21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Bahnschrift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#ANG QUAN DAO, BRYAN#</cp:lastModifiedBy>
  <cp:revision>3</cp:revision>
  <dcterms:created xsi:type="dcterms:W3CDTF">2026-07-22T08:41:45Z</dcterms:created>
  <dcterms:modified xsi:type="dcterms:W3CDTF">2026-08-29T13:10:34Z</dcterms:modified>
</cp:coreProperties>
</file>